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(€)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1B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Anno 1 (2026)</c:v>
                  </c:pt>
                  <c:pt idx="1">
                    <c:v>Anno 2 (2027)</c:v>
                  </c:pt>
                  <c:pt idx="2">
                    <c:v>Anno 3 (2028)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52800</c:v>
                </c:pt>
                <c:pt idx="1">
                  <c:v>165000</c:v>
                </c:pt>
                <c:pt idx="2">
                  <c:v>467400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1B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5B21B6">
              <a:alpha val="25000"/>
            </a:srgbClr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280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8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114800" y="1554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discipline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public opportunity teams.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0" y="2651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— Smart &amp; Start Italia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663440"/>
            <a:ext cx="84124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Confidenziale — Invitalia / Smart &amp; Start Italia  •  Marzo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vengono qualificate le gare d'appalto oggi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229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2697480" cy="3383280"/>
          </a:xfrm>
          <a:prstGeom prst="rect">
            <a:avLst/>
          </a:prstGeom>
          <a:solidFill>
            <a:srgbClr val="130D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25880"/>
            <a:ext cx="54864" cy="3383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20848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 sprecate ogni settimana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team di procurement filtrano manualmente centinaia di bandi da decine di portali nazionali e regionali. Il 90% non è rilevante.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325880"/>
            <a:ext cx="2697480" cy="3383280"/>
          </a:xfrm>
          <a:prstGeom prst="rect">
            <a:avLst/>
          </a:prstGeom>
          <a:solidFill>
            <a:srgbClr val="130D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25880"/>
            <a:ext cx="54864" cy="3383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463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0848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 tardive su dati incompleti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615184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scoring né briefing automatici, le decisioni GO/NO-GO arrivano troppo tardi. La maggior parte dei bandi si vince o si perde nella fase di qualificazione, non nella risposta.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697480" cy="3383280"/>
          </a:xfrm>
          <a:prstGeom prst="rect">
            <a:avLst/>
          </a:prstGeom>
          <a:solidFill>
            <a:srgbClr val="130D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25880"/>
            <a:ext cx="54864" cy="3383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4630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63640" y="20848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Intelligenza di mercato frammentata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2615184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UK, Francia, Italia, TED-UE: ogni fonte ha il suo formato, la sua lingua, il suo ritmo. Nessuno strumento oggi aggrega tutto in modo coerente.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RadarPulse — il sistema operativo delle opportunità pubbliche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229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3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417320" cy="1371600"/>
          </a:xfrm>
          <a:prstGeom prst="rect">
            <a:avLst/>
          </a:prstGeom>
          <a:solidFill>
            <a:srgbClr val="130D2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5819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fonti EU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tempo reale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2103120"/>
            <a:ext cx="301752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84832" y="1417320"/>
            <a:ext cx="1417320" cy="1371600"/>
          </a:xfrm>
          <a:prstGeom prst="rect">
            <a:avLst/>
          </a:prstGeom>
          <a:solidFill>
            <a:srgbClr val="130D2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84832" y="15819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30552" y="20116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per fit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02152" y="2103120"/>
            <a:ext cx="301752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03904" y="1417320"/>
            <a:ext cx="1417320" cy="1371600"/>
          </a:xfrm>
          <a:prstGeom prst="rect">
            <a:avLst/>
          </a:prstGeom>
          <a:solidFill>
            <a:srgbClr val="130D2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03904" y="15819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9624" y="20116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esecutivo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 un click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21224" y="2103120"/>
            <a:ext cx="301752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22976" y="1417320"/>
            <a:ext cx="1417320" cy="1371600"/>
          </a:xfrm>
          <a:prstGeom prst="rect">
            <a:avLst/>
          </a:prstGeom>
          <a:solidFill>
            <a:srgbClr val="130D2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22976" y="15819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68696" y="20116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HOLD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NO-GO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40296" y="2103120"/>
            <a:ext cx="301752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42048" y="1417320"/>
            <a:ext cx="141732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42048" y="15819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87768" y="201168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team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2976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ore di screening manuale a 30 secondi per decisione.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Prodotto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che trasformano il procurement intelligence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4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44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1618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intelligente multi-mercato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02082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Aggregazione unificata di UK, Francia, Italia e TED-UE con filtri per settore, valore, scoring e regione.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6704" y="12344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46704" y="1234440"/>
            <a:ext cx="54864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1344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11296" y="1618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 (0–100)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11296" y="202082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opportunità riceve un punteggio di qualità basato su fit, valore stimato e pertinenza settoriale. Priorità automatica.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6208" y="123444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36208" y="1234440"/>
            <a:ext cx="54864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3441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16184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 one-click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02082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strutturato: sintesi esecutiva, fit assessment, flag di rischio, azioni raccomandate. Persistito 7 giorni.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971800"/>
            <a:ext cx="54864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" y="3355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workflow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375818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Cattura GO / HOLD / NO-GO con rationale. Audit trail completo per ogni opportunità nel team.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46704" y="29718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46704" y="2971800"/>
            <a:ext cx="54864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11296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11296" y="3355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&amp; Workspace team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11296" y="375818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collaborativo (NEW → SUBMITTED), checklist assegnabili, tracking documenti, piano di risposta.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36208" y="297180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36208" y="2971800"/>
            <a:ext cx="54864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081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33558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Intelligence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3758184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 di copertura per paese e regione, heatmap opportunità, analisi fonti attive per mercato.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mercato enorme, ancora poco digitalizzato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229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0" y="123444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€2.1T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8288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appalti pubblici annui nell'Unione Europea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834640"/>
            <a:ext cx="1965960" cy="1965960"/>
          </a:xfrm>
          <a:prstGeom prst="rect">
            <a:avLst/>
          </a:prstGeom>
          <a:solidFill>
            <a:srgbClr val="130D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1208" y="29443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" y="329184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£300B+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21208" y="3794760"/>
            <a:ext cx="175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Tender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Finder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2834640"/>
            <a:ext cx="1965960" cy="1965960"/>
          </a:xfrm>
          <a:prstGeom prst="rect">
            <a:avLst/>
          </a:prstGeom>
          <a:solidFill>
            <a:srgbClr val="130D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24328" y="29443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24328" y="329184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€100B+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24328" y="3794760"/>
            <a:ext cx="175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BOAMP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Publics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834640"/>
            <a:ext cx="1965960" cy="1965960"/>
          </a:xfrm>
          <a:prstGeom prst="rect">
            <a:avLst/>
          </a:prstGeom>
          <a:solidFill>
            <a:srgbClr val="130D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27448" y="29443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27448" y="329184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€150B+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27448" y="3794760"/>
            <a:ext cx="175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Portali regionali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20840" y="2834640"/>
            <a:ext cx="1965960" cy="1965960"/>
          </a:xfrm>
          <a:prstGeom prst="rect">
            <a:avLst/>
          </a:prstGeom>
          <a:solidFill>
            <a:srgbClr val="130D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30568" y="29443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TED / EU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30568" y="3291840"/>
            <a:ext cx="1755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700K+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30568" y="3794760"/>
            <a:ext cx="17556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 pubblicati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su OJEU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di Business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ricorrente — accesso controllato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6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749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34440"/>
            <a:ext cx="3749040" cy="5029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Solo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€49 / mese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utente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Feed EU multi-mercato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0906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Scoring per ogni opportunità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43814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Brief one-click illimitati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8561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Decision workflow (GO/HOLD/NO-GO)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13308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Trial 7 giorni incluso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123444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234440"/>
            <a:ext cx="41605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234440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Team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36592" y="1847088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€199 / mese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36592" y="23591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custom — multi-utente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2743200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Tutto di Solo 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3090672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Dossier board collaborativo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3438144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Checklist e task assegnabili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3785616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Geographic Intelligence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6592" y="4133088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Onboarding prioritario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target 4:1  •  Churn mensile atteso &lt; 3%  •  Payback &lt; 6 mesi  •  Costo marginale per cliente &lt; €5/mese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Trazione &amp; Posizionamento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 — vantaggio competitivo difendibile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229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3977640" cy="3520440"/>
          </a:xfrm>
          <a:prstGeom prst="rect">
            <a:avLst/>
          </a:prstGeom>
          <a:solidFill>
            <a:srgbClr val="130D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80160"/>
            <a:ext cx="54864" cy="3520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3898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attuale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MVP live (UK, Francia, Italia, TED-UE)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2311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40+ fonti attive in tempo reale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633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early adopters in UK e FR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0358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brief &amp; scoring operativi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4381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Dossier workspace in beta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Espansione Italia in corso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424281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  Registrazione Startup Innovativa in corso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280160"/>
            <a:ext cx="4069080" cy="3520440"/>
          </a:xfrm>
          <a:prstGeom prst="rect">
            <a:avLst/>
          </a:prstGeom>
          <a:solidFill>
            <a:srgbClr val="130D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19472" y="1389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Concorrenti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9472" y="18288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18288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RadarPulse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16368" y="182880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Tussell / BIP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22585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Multi-mercato EU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2585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16368" y="225856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Parziale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19472" y="268833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 nativo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268833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16368" y="268833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19472" y="311810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 one-click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311810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16368" y="3118104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3547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3547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16368" y="35478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19472" y="39776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accessibile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9776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€49/m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516368" y="3977640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€200–500+/m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19472" y="440740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moderna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440740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516368" y="440740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di Sviluppo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MVP a piattaforma multi-agent — 18 mesi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8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0299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2029968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344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17373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corso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21208" y="20848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Canonicalizzazione cross-source stabile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" y="25968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Scoring engine completo con rationale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31089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Stabilizzazione pipeline 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78608" y="1234440"/>
            <a:ext cx="20299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78608" y="1234440"/>
            <a:ext cx="2029968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2344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17373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finanziamento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88336" y="20848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Dossier workspace unificato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88336" y="25968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agent (AI genera bozza risposta)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88336" y="31089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Lancio mercato italiano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45736" y="1234440"/>
            <a:ext cx="20299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45736" y="1234440"/>
            <a:ext cx="2029968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12344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18888" y="17373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finanziamento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55464" y="20848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Deadline agent + follow-up automatico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55464" y="25968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Notifiche proattive e alert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55464" y="31089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aperta per integrazioni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12864" y="1234440"/>
            <a:ext cx="20299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12864" y="1234440"/>
            <a:ext cx="202996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86016" y="123444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86016" y="1737360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finanziamento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22592" y="20848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Multi-agent orchestration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22592" y="25968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Espansione DACH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22592" y="31089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Modulo grant europei (Eurostars)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8006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MVP completata  →  Scaling con finanziamento Smart &amp; Start  →  Expansion EU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tecnico, piano assunzioni qualificate con finanziamento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229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9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931920" cy="3520440"/>
          </a:xfrm>
          <a:prstGeom prst="rect">
            <a:avLst/>
          </a:prstGeom>
          <a:solidFill>
            <a:srgbClr val="130D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98448"/>
            <a:ext cx="54864" cy="3520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1732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👤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371600" y="14630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Fondatore &amp; CEO/CTO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full-stack under 35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21284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Architetture cloud-native (Supabase, Deno, Edge)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59689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applicata — OpenAI API, prompt engineering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98094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React + TypeScript — SPA multi-mercato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364992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PostgreSQL, pipeline dati, scraping multi-source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74904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Lingue operative: IT, FR, EN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4133088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 costruito l'intera piattaforma autonomamente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1298448"/>
            <a:ext cx="4133088" cy="3520440"/>
          </a:xfrm>
          <a:prstGeom prst="rect">
            <a:avLst/>
          </a:prstGeom>
          <a:solidFill>
            <a:srgbClr val="130D2A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141732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Assunzioni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64608" y="1901952"/>
            <a:ext cx="38221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64608" y="1901952"/>
            <a:ext cx="457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22128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/ Sales EU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2505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Esperto procurement pubblico o SaaS B2B — Laurea Magistrale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64608" y="2980944"/>
            <a:ext cx="38221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64608" y="2980944"/>
            <a:ext cx="457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83480" y="3291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35844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pipelines + AI — Laurea Magistrale STEM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64608" y="4059936"/>
            <a:ext cx="38221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64608" y="4059936"/>
            <a:ext cx="4572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4096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83480" y="4370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4663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SaaS B2B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64608" y="4727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prime 2 assunzioni portano il team al requisito Startup Innovativa (≥1/3 laureati magistrali)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Proiezioni Finanziarie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anno 2 — crescita ARR guidata dal finanziamento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10 / 12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18872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188720"/>
            <a:ext cx="28529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1188720"/>
            <a:ext cx="54864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44768" y="122529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44768" y="1481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€52.8K ARR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144768" y="1810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Solo + 15 Team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89320" y="2267712"/>
            <a:ext cx="28529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89320" y="2267712"/>
            <a:ext cx="54864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2304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144768" y="25603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€165K ARR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44768" y="288950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Solo + 60 Team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89320" y="3346704"/>
            <a:ext cx="28529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89320" y="3346704"/>
            <a:ext cx="54864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3383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3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44768" y="363931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€467K ARR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144768" y="396849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Solo + 180 Team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89320" y="4370832"/>
            <a:ext cx="2852928" cy="45720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80760" y="43708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Breakeven: Anno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Anno 3: +€200K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Richiesta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&amp; Start Italia — Invitalia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82296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B5FD"/>
                </a:solidFill>
              </a:rPr>
              <a:t>11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0" y="1261872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€225.000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Prestito a tasso zero — Smart &amp; Start Italia (Invitalia / MIMIT)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670048"/>
            <a:ext cx="20116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6700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70432" y="26700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R&amp;S — sviluppo prodotto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26700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€90.000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090672"/>
            <a:ext cx="100584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08760" y="30906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70432" y="30906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Assunzione Growth/Sales EU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6720" y="309067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€45.000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511296"/>
            <a:ext cx="653796" cy="320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6716" y="351129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" y="35112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go-to-market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35112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€30.000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931920"/>
            <a:ext cx="452628" cy="32004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5548" y="39319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70432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Infrastruttura cloud + AI API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46720" y="3931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€20.000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352544"/>
            <a:ext cx="804672" cy="320040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07592" y="435254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70432" y="43525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IP, working capital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3525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€40.000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il finanziamento: breakeven anno 2  •  +2 assunzioni STEM/commerciale  •  Lancio IT + espansione EU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6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5B21B6">
              <a:alpha val="18000"/>
            </a:srgbClr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RADARPULSE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discipline for public opportunity teams.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Costruito in Italia. Pensato per l'Europa.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906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828800" y="3858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domande e approfondimenti: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418795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radarpulse.io  •  Startup Innovativa  •  Smart &amp; Start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RadarPulse — Pitch Deck Smart &amp; Start Italia 2026</dc:title>
  <dc:subject>PptxGenJS Presentation</dc:subject>
  <dc:creator>RadarPulse</dc:creator>
  <cp:lastModifiedBy>RadarPulse</cp:lastModifiedBy>
  <cp:revision>1</cp:revision>
  <dcterms:created xsi:type="dcterms:W3CDTF">2026-03-21T00:48:24Z</dcterms:created>
  <dcterms:modified xsi:type="dcterms:W3CDTF">2026-03-21T00:48:24Z</dcterms:modified>
</cp:coreProperties>
</file>